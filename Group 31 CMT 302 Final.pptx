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31" r:id="rId1"/>
  </p:sldMasterIdLst>
  <p:notesMasterIdLst>
    <p:notesMasterId r:id="rId13"/>
  </p:notesMasterIdLst>
  <p:sldIdLst>
    <p:sldId id="290" r:id="rId2"/>
    <p:sldId id="339" r:id="rId3"/>
    <p:sldId id="289" r:id="rId4"/>
    <p:sldId id="342" r:id="rId5"/>
    <p:sldId id="282" r:id="rId6"/>
    <p:sldId id="309" r:id="rId7"/>
    <p:sldId id="340" r:id="rId8"/>
    <p:sldId id="341" r:id="rId9"/>
    <p:sldId id="298" r:id="rId10"/>
    <p:sldId id="336" r:id="rId11"/>
    <p:sldId id="337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291" autoAdjust="0"/>
  </p:normalViewPr>
  <p:slideViewPr>
    <p:cSldViewPr snapToGrid="0">
      <p:cViewPr varScale="1">
        <p:scale>
          <a:sx n="65" d="100"/>
          <a:sy n="65" d="100"/>
        </p:scale>
        <p:origin x="93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5" d="100"/>
          <a:sy n="55" d="100"/>
        </p:scale>
        <p:origin x="2880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9BD577-E711-4F0A-A597-79D8320811BD}" type="datetimeFigureOut">
              <a:rPr lang="en-US" smtClean="0"/>
              <a:t>11/23/2024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392BAA-BC19-467C-9F73-1B5F5504B8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99252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C8F45-5EF6-4BA4-9EF9-21873DFB8715}" type="datetime1">
              <a:rPr lang="en-US" smtClean="0"/>
              <a:t>11/23/2024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r>
              <a:rPr lang="en-US"/>
              <a:t>CUEA | Department of Computer &amp; Information Science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DDD1C4E3-6544-488F-8BBE-2E6A0588B5A3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7" name="image1.png">
            <a:extLst>
              <a:ext uri="{FF2B5EF4-FFF2-40B4-BE49-F238E27FC236}">
                <a16:creationId xmlns:a16="http://schemas.microsoft.com/office/drawing/2014/main" id="{74E0295B-D2C0-A140-3AAC-EB312DEE9D9B}"/>
              </a:ext>
            </a:extLst>
          </p:cNvPr>
          <p:cNvPicPr/>
          <p:nvPr userDrawn="1"/>
        </p:nvPicPr>
        <p:blipFill>
          <a:blip r:embed="rId2"/>
          <a:srcRect/>
          <a:stretch>
            <a:fillRect/>
          </a:stretch>
        </p:blipFill>
        <p:spPr>
          <a:xfrm>
            <a:off x="5125915" y="136525"/>
            <a:ext cx="1940170" cy="1695095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40846346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5F22A-3AC6-4339-8492-9055B605575F}" type="datetime1">
              <a:rPr lang="en-US" smtClean="0"/>
              <a:t>11/23/2024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CUEA | Department of Computer &amp; Information Science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1C4E3-6544-488F-8BBE-2E6A0588B5A3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18964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082F0-F3F7-42FF-8D5D-2D21C8A34A49}" type="datetime1">
              <a:rPr lang="en-US" smtClean="0"/>
              <a:t>11/23/2024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CUEA | Department of Computer &amp; Information Science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1C4E3-6544-488F-8BBE-2E6A0588B5A3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60840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C5A97-EE2C-465D-B14B-7475B8678DA8}" type="datetime1">
              <a:rPr lang="en-US" smtClean="0"/>
              <a:t>11/23/2024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CUEA | Department of Computer &amp; Information Science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1C4E3-6544-488F-8BBE-2E6A0588B5A3}" type="slidenum">
              <a:rPr lang="en-US" smtClean="0"/>
              <a:t>‹#›</a:t>
            </a:fld>
            <a:endParaRPr 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29417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A956A2-A6E8-4C44-AA9E-4F5628D6BBB5}" type="datetime1">
              <a:rPr lang="en-US" smtClean="0"/>
              <a:t>11/23/2024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CUEA | Department of Computer &amp; Information Science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1C4E3-6544-488F-8BBE-2E6A0588B5A3}" type="slidenum">
              <a:rPr lang="en-US" smtClean="0"/>
              <a:t>‹#›</a:t>
            </a:fld>
            <a:endParaRPr 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307280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58A082-D35D-4107-A4BF-8A78C47DC0CE}" type="datetime1">
              <a:rPr lang="en-US" smtClean="0"/>
              <a:t>11/23/2024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CUEA | Department of Computer &amp; Information Science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1C4E3-6544-488F-8BBE-2E6A0588B5A3}" type="slidenum">
              <a:rPr lang="en-US" smtClean="0"/>
              <a:t>‹#›</a:t>
            </a:fld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75558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2DCC7-3996-4C97-914E-B079D5E3DF8C}" type="datetime1">
              <a:rPr lang="en-US" smtClean="0"/>
              <a:t>11/23/2024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CUEA | Department of Computer &amp; Information Science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1C4E3-6544-488F-8BBE-2E6A0588B5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4660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3FA11-8A1B-4F35-9FC3-A508EA8A0333}" type="datetime1">
              <a:rPr lang="en-US" smtClean="0"/>
              <a:t>11/23/2024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CUEA | Department of Computer &amp; Information Science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1C4E3-6544-488F-8BBE-2E6A0588B5A3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33017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5C0420C4-E89B-4AE2-9C9C-F402479D59A1}" type="datetime1">
              <a:rPr lang="en-US" smtClean="0"/>
              <a:t>11/23/2024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r>
              <a:rPr lang="en-US"/>
              <a:t>CUEA | Department of Computer &amp; Information Science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1C4E3-6544-488F-8BBE-2E6A0588B5A3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527736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74967-9816-499C-AB4B-C0FC2F66720D}" type="datetime1">
              <a:rPr lang="en-US" smtClean="0"/>
              <a:t>11/23/2024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CUEA | Department of Computer &amp; Information Science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1C4E3-6544-488F-8BBE-2E6A0588B5A3}" type="slidenum">
              <a:rPr lang="en-US" smtClean="0"/>
              <a:t>‹#›</a:t>
            </a:fld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13526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8B7465-797B-46B6-A7BA-BAD3E6FC9E30}" type="datetime1">
              <a:rPr lang="en-US" smtClean="0"/>
              <a:t>11/23/2024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CUEA | Department of Computer &amp; Information Science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1C4E3-6544-488F-8BBE-2E6A0588B5A3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996910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64FB30-3BE4-4C21-89AF-A0EA3257E411}" type="datetime1">
              <a:rPr lang="en-US" smtClean="0"/>
              <a:t>11/23/2024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CUEA | Department of Computer &amp; Information Science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DDD1C4E3-6544-488F-8BBE-2E6A0588B5A3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19517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2" r:id="rId1"/>
    <p:sldLayoutId id="2147483833" r:id="rId2"/>
    <p:sldLayoutId id="2147483834" r:id="rId3"/>
    <p:sldLayoutId id="2147483835" r:id="rId4"/>
    <p:sldLayoutId id="2147483836" r:id="rId5"/>
    <p:sldLayoutId id="2147483837" r:id="rId6"/>
    <p:sldLayoutId id="2147483838" r:id="rId7"/>
    <p:sldLayoutId id="2147483839" r:id="rId8"/>
    <p:sldLayoutId id="2147483840" r:id="rId9"/>
    <p:sldLayoutId id="2147483841" r:id="rId10"/>
    <p:sldLayoutId id="2147483842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45B65E-5945-24B3-3F05-4DAD7EB2FD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1819" y="329307"/>
            <a:ext cx="9480308" cy="1587982"/>
          </a:xfrm>
        </p:spPr>
        <p:txBody>
          <a:bodyPr>
            <a:normAutofit fontScale="90000"/>
          </a:bodyPr>
          <a:lstStyle/>
          <a:p>
            <a:br>
              <a:rPr lang="en-GB" sz="33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</a:br>
            <a:br>
              <a:rPr lang="en-GB" sz="2600" b="1" dirty="0">
                <a:solidFill>
                  <a:srgbClr val="C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</a:br>
            <a:r>
              <a:rPr lang="en-GB" sz="3100" b="1" dirty="0">
                <a:solidFill>
                  <a:srgbClr val="C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PROJECT </a:t>
            </a:r>
            <a:r>
              <a:rPr lang="en-GB" sz="3100" b="1" dirty="0">
                <a:solidFill>
                  <a:srgbClr val="C00000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title</a:t>
            </a:r>
            <a:r>
              <a:rPr lang="en-GB" sz="3100" b="1" dirty="0">
                <a:solidFill>
                  <a:srgbClr val="C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: ONLINE BUS TICKET BOOKING SYSTEM</a:t>
            </a:r>
            <a:br>
              <a:rPr lang="en-US" sz="3100" dirty="0">
                <a:solidFill>
                  <a:srgbClr val="C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</a:br>
            <a:endParaRPr lang="en-US" sz="3100" dirty="0">
              <a:solidFill>
                <a:srgbClr val="C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ECA1A4-DEBD-5DF4-16A4-DFB5D346B1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454" y="1685635"/>
            <a:ext cx="10515600" cy="4351338"/>
          </a:xfrm>
          <a:scene3d>
            <a:camera prst="perspectiveAbove"/>
            <a:lightRig rig="threePt" dir="t"/>
          </a:scene3d>
        </p:spPr>
        <p:txBody>
          <a:bodyPr>
            <a:normAutofit fontScale="92500" lnSpcReduction="20000"/>
          </a:bodyPr>
          <a:lstStyle/>
          <a:p>
            <a:pPr marL="0" marR="0" indent="0">
              <a:lnSpc>
                <a:spcPct val="200000"/>
              </a:lnSpc>
              <a:buNone/>
            </a:pPr>
            <a:r>
              <a:rPr lang="en-GB" sz="22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GROUP NO:  31 STREAM B</a:t>
            </a:r>
            <a:endParaRPr lang="en-US" sz="22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0" marR="0" indent="0">
              <a:lnSpc>
                <a:spcPct val="200000"/>
              </a:lnSpc>
              <a:buNone/>
            </a:pPr>
            <a:r>
              <a:rPr lang="en-GB" sz="1800" b="1" u="sng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MEMBERS:</a:t>
            </a:r>
            <a:endParaRPr lang="en-US" sz="1800" u="sng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0" marR="0" indent="0">
              <a:lnSpc>
                <a:spcPct val="200000"/>
              </a:lnSpc>
              <a:buNone/>
            </a:pPr>
            <a:r>
              <a:rPr lang="en-GB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1. 1062811- JULIUS MAINGI NJUGUNA</a:t>
            </a:r>
            <a:endParaRPr lang="en-US" sz="1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0" marR="0" indent="0">
              <a:lnSpc>
                <a:spcPct val="200000"/>
              </a:lnSpc>
              <a:buNone/>
            </a:pPr>
            <a:r>
              <a:rPr lang="en-GB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2. 1062793- NJENGA KENDI</a:t>
            </a:r>
            <a:endParaRPr lang="en-US" sz="1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0" marR="0" indent="0">
              <a:lnSpc>
                <a:spcPct val="200000"/>
              </a:lnSpc>
              <a:buNone/>
            </a:pPr>
            <a:r>
              <a:rPr lang="en-GB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3. 1046045- SHARON CHEPKORIR</a:t>
            </a:r>
            <a:endParaRPr lang="en-US" sz="1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0" marR="0" indent="0">
              <a:lnSpc>
                <a:spcPct val="200000"/>
              </a:lnSpc>
              <a:buNone/>
            </a:pPr>
            <a:r>
              <a:rPr lang="en-GB" sz="1800" dirty="0">
                <a:latin typeface="Arial" panose="020B0604020202020204" pitchFamily="34" charset="0"/>
                <a:ea typeface="Arial" panose="020B0604020202020204" pitchFamily="34" charset="0"/>
              </a:rPr>
              <a:t>4. </a:t>
            </a:r>
            <a:r>
              <a:rPr lang="en-GB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1045121- LUCY MWONGELI</a:t>
            </a:r>
            <a:endParaRPr lang="en-US" sz="1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0" marR="0" indent="0">
              <a:lnSpc>
                <a:spcPct val="200000"/>
              </a:lnSpc>
              <a:buNone/>
            </a:pPr>
            <a:r>
              <a:rPr lang="en-GB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5. 1049060- PETER KILUNDA</a:t>
            </a:r>
            <a:endParaRPr lang="en-US" sz="1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E67397-3A97-BA5D-F4B1-D6CD83C516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5F22A-3AC6-4339-8492-9055B605575F}" type="datetime1">
              <a:rPr lang="en-US" smtClean="0"/>
              <a:t>11/23/2024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E0274A-18A5-0410-6C8A-591EA0D79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CUEA | Department of Computer &amp; Information Science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F3783E-8B64-5978-1F73-414BEF725A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1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7451973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195EFB-C29B-61D7-9AE4-CE9AC10260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66A58E-79F1-BCB3-BE6C-FF7255AD60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 online bus ticket booking system is an online platform that simplifies the process of purchasing bus tickets .it allows users to search for routes, compare prices and book tickets conveniently.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A1B648-F0C9-F310-4C2B-A9BCB30EC4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5F22A-3AC6-4339-8492-9055B605575F}" type="datetime1">
              <a:rPr lang="en-US" smtClean="0"/>
              <a:t>11/23/2024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BCBC82-1BEE-34A2-DF4B-4FE9FEBB4E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CUEA | Department of Computer &amp; Information Science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535AA6-CB6B-3D1A-F011-668700F3E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1C4E3-6544-488F-8BBE-2E6A0588B5A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81602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643F89-C576-46FB-B92F-7554ACCAC8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FB5A2A-17DF-89E1-1D16-2D683C4F2C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02890"/>
            <a:ext cx="10515600" cy="678426"/>
          </a:xfrm>
        </p:spPr>
        <p:txBody>
          <a:bodyPr>
            <a:normAutofit/>
          </a:bodyPr>
          <a:lstStyle/>
          <a:p>
            <a:pPr marL="0" marR="0" algn="ctr">
              <a:lnSpc>
                <a:spcPct val="150000"/>
              </a:lnSpc>
            </a:pPr>
            <a:r>
              <a:rPr lang="en-GB" sz="2200" b="1" u="sng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OBJECTIVES:</a:t>
            </a:r>
            <a:endParaRPr lang="en-US" sz="22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60B209-4579-81B6-3DB9-E742104807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40310" y="1961535"/>
            <a:ext cx="9613490" cy="4454012"/>
          </a:xfrm>
        </p:spPr>
        <p:txBody>
          <a:bodyPr>
            <a:normAutofit/>
          </a:bodyPr>
          <a:lstStyle/>
          <a:p>
            <a:pPr marR="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GB" sz="1800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i</a:t>
            </a:r>
            <a:r>
              <a:rPr lang="en-GB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)  To provide a web-based bus booking system where a customer can buy a bus ticket without the need to queue up at the counter.</a:t>
            </a:r>
            <a:endParaRPr lang="en-US" sz="1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R="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GB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ii)   To enable customers  to check  the  availability of  buses  online. </a:t>
            </a:r>
            <a:endParaRPr lang="en-US" sz="1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R="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GB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iii) To enable customers to choose their seats online.</a:t>
            </a:r>
            <a:endParaRPr lang="en-US" sz="1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R="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GB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iv)  To enable customers to pay for their bus ticket online.</a:t>
            </a:r>
            <a:endParaRPr lang="en-US" sz="1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9023DF-46AA-42F3-389F-5B6E8AD923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5F22A-3AC6-4339-8492-9055B605575F}" type="datetime1">
              <a:rPr lang="en-US" smtClean="0"/>
              <a:t>11/23/2024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7CB7E7-592F-3D20-B59F-9FA115EB2B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CUEA | Department of Computer &amp; Information Science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2FA401-C87A-93AC-2C73-7012621CB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1C4E3-6544-488F-8BBE-2E6A0588B5A3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08370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B4041A-2439-CAE8-A807-4E01950BB5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Tables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34B8A2-AC45-9DE9-7F7B-4A75E6FAD4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Users                                                    seat_reservation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Booking tickets                                     user_cancellation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Payment option                                     feedback table 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Routes table                                          Audit logs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Buses table                                             Admin table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Drivers                                                  Booked_trips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User_booking_history 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A3D696-C085-1501-63B5-FF8B409700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5F22A-3AC6-4339-8492-9055B605575F}" type="datetime1">
              <a:rPr lang="en-US" smtClean="0"/>
              <a:t>11/23/2024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7A42AF-7F12-8CFB-D8FC-22BB9036C0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CUEA | Department of Computer &amp; Information Science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DF7755-7586-56ED-063A-43D7713235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1C4E3-6544-488F-8BBE-2E6A0588B5A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10186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6642E-6994-8620-0A1C-F2BE8AEB2A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255" y="136525"/>
            <a:ext cx="3872345" cy="1572201"/>
          </a:xfrm>
        </p:spPr>
        <p:txBody>
          <a:bodyPr/>
          <a:lstStyle/>
          <a:p>
            <a:pPr marL="0" marR="0" algn="ctr">
              <a:lnSpc>
                <a:spcPct val="150000"/>
              </a:lnSpc>
            </a:pPr>
            <a:br>
              <a:rPr lang="en-GB" sz="1800" b="1" u="sng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</a:br>
            <a:r>
              <a:rPr lang="en-GB" sz="1800" b="1" u="sng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(</a:t>
            </a:r>
            <a:r>
              <a:rPr lang="en-GB" sz="1800" b="1" u="sng" dirty="0" err="1">
                <a:solidFill>
                  <a:srgbClr val="C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i</a:t>
            </a:r>
            <a:r>
              <a:rPr lang="en-GB" sz="1800" b="1" u="sng" dirty="0">
                <a:solidFill>
                  <a:srgbClr val="C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) ER- DIAGRAMS</a:t>
            </a:r>
            <a:endParaRPr lang="en-US" sz="1800" dirty="0">
              <a:solidFill>
                <a:srgbClr val="C00000"/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972F8386-FD3E-7D97-058A-228C5F1C10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684" y="1061884"/>
            <a:ext cx="10899058" cy="4997143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066993-DB10-64AC-3256-DADD30A23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5F22A-3AC6-4339-8492-9055B605575F}" type="datetime1">
              <a:rPr lang="en-US" smtClean="0"/>
              <a:t>11/23/2024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49BD0B-2B3B-D72C-12CD-169761E55B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CUEA | Department of Computer &amp; Information Science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E783D4-54E8-F5D3-FD79-8D75E29BAB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1C4E3-6544-488F-8BBE-2E6A0588B5A3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01264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2DBCBA-8C8F-0994-E4A6-6CA876D2C9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C83605-CA52-7A72-F043-C3906A7053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2855" y="136526"/>
            <a:ext cx="10515600" cy="544512"/>
          </a:xfrm>
        </p:spPr>
        <p:txBody>
          <a:bodyPr/>
          <a:lstStyle/>
          <a:p>
            <a:pPr marL="0" marR="0">
              <a:lnSpc>
                <a:spcPct val="150000"/>
              </a:lnSpc>
            </a:pPr>
            <a:r>
              <a:rPr lang="en-GB" sz="1800" b="1" u="sng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(iii) SQL SCHEMA</a:t>
            </a:r>
            <a:endParaRPr lang="en-US" sz="1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9A66BBB0-FBBD-7DDE-BDC1-D9A43ACC7AD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432" y="602829"/>
            <a:ext cx="9984658" cy="5574134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A07B16-3896-035E-E46A-0DD00EC477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5F22A-3AC6-4339-8492-9055B605575F}" type="datetime1">
              <a:rPr lang="en-US" smtClean="0"/>
              <a:t>11/23/2024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BCF7CC-9F4B-F556-BBC0-3C71DCE3E5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CUEA | Department of Computer &amp; Information Science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E9D0D0-A19B-A4D8-55BD-A068305DAD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1C4E3-6544-488F-8BBE-2E6A0588B5A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43994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DA7812-6BF2-C23E-EA7C-A6F0E5F2D2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9089" y="803456"/>
            <a:ext cx="9603275" cy="1049235"/>
          </a:xfrm>
        </p:spPr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Advanced queries</a:t>
            </a:r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06A0BA7B-FB8B-C8A6-6307-96F4B5F4B37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1580" y="1853754"/>
            <a:ext cx="4757492" cy="3868620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19147A-10E3-9207-89FA-9A323713D5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5F22A-3AC6-4339-8492-9055B605575F}" type="datetime1">
              <a:rPr lang="en-US" smtClean="0"/>
              <a:t>11/23/2024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0623B1-6218-223F-E268-8C242FBD82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CUEA | Department of Computer &amp; Information Science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23B0D6-1CF7-5716-14B8-BC885A3823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1C4E3-6544-488F-8BBE-2E6A0588B5A3}" type="slidenum">
              <a:rPr lang="en-US" smtClean="0"/>
              <a:t>7</a:t>
            </a:fld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16CE425-4C2D-AA1C-CC64-C09AF708EB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3910" y="1853754"/>
            <a:ext cx="4070555" cy="3868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2377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7B19F-7AB1-2CEF-A2C7-FC8BB5F0FB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Advanced queries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1D33523C-44BD-7D93-A96C-4767B3C39D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394" y="2018702"/>
            <a:ext cx="4178025" cy="3792163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AABAB9-CF1C-DDF1-63CF-9287C6430F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5F22A-3AC6-4339-8492-9055B605575F}" type="datetime1">
              <a:rPr lang="en-US" smtClean="0"/>
              <a:t>11/23/2024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818002-6661-B62A-C8CF-3E6A96505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CUEA | Department of Computer &amp; Information Science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D0695E-4294-063E-5CAB-3FB0791B1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1C4E3-6544-488F-8BBE-2E6A0588B5A3}" type="slidenum">
              <a:rPr lang="en-US" smtClean="0"/>
              <a:t>8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147E52A-CB88-7168-7542-234C943487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018702"/>
            <a:ext cx="5319252" cy="3792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21859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535DDE-5C49-C12B-4DAE-68400A1CF9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84AE8-DA53-1ED9-8DCC-9DEE94BE13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17639"/>
            <a:ext cx="10515600" cy="914400"/>
          </a:xfrm>
        </p:spPr>
        <p:txBody>
          <a:bodyPr>
            <a:normAutofit/>
          </a:bodyPr>
          <a:lstStyle/>
          <a:p>
            <a:pPr marL="0" marR="0" algn="ctr">
              <a:lnSpc>
                <a:spcPct val="150000"/>
              </a:lnSpc>
            </a:pPr>
            <a:r>
              <a:rPr lang="en-GB" sz="2600" b="1" u="sng" dirty="0"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TESTING AND VALIDATION:</a:t>
            </a:r>
            <a:endParaRPr lang="en-US" sz="2600" dirty="0">
              <a:effectLst/>
              <a:latin typeface="Times New Roman" panose="02020603050405020304" pitchFamily="18" charset="0"/>
              <a:ea typeface="Arial" panose="020B06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331A6E-6546-6794-B64F-4121B38544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9745" y="2212258"/>
            <a:ext cx="10515600" cy="347517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GB" sz="2600" dirty="0"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This system has been tested by use of input scenarios,  hence ensuring that the constraints, foreign keys and Enums behave as expected.</a:t>
            </a:r>
            <a:endParaRPr lang="en-US" sz="2600" dirty="0">
              <a:effectLst/>
              <a:latin typeface="Times New Roman" panose="02020603050405020304" pitchFamily="18" charset="0"/>
              <a:ea typeface="Arial" panose="020B0604020202020204" pitchFamily="34" charset="0"/>
              <a:cs typeface="Times New Roman" panose="02020603050405020304" pitchFamily="18" charset="0"/>
            </a:endParaRPr>
          </a:p>
          <a:p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D9A5B9-C220-E7D7-7819-F3ABF1C61D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5F22A-3AC6-4339-8492-9055B605575F}" type="datetime1">
              <a:rPr lang="en-US" smtClean="0"/>
              <a:t>11/23/2024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B0E33D-87F8-48E9-E422-4A7FED4720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CUEA | Department of Computer &amp; Information Science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CBB4B6-D934-955E-3E72-37D7641A5A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1C4E3-6544-488F-8BBE-2E6A0588B5A3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51036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1ABBE1-C85A-CC47-5E0E-641483FAF8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5FC055-9D7A-D9DB-F7DE-1B5DE06085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61543"/>
            <a:ext cx="10515600" cy="503579"/>
          </a:xfrm>
        </p:spPr>
        <p:txBody>
          <a:bodyPr>
            <a:normAutofit fontScale="90000"/>
          </a:bodyPr>
          <a:lstStyle/>
          <a:p>
            <a:pPr marL="0" marR="0" algn="ctr">
              <a:lnSpc>
                <a:spcPct val="150000"/>
              </a:lnSpc>
            </a:pPr>
            <a:r>
              <a:rPr lang="en-GB" sz="2600" b="1" u="sng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CONCLUSIONS AND RECOMMENDATIONS:</a:t>
            </a:r>
            <a:endParaRPr lang="en-US" sz="2600" dirty="0">
              <a:solidFill>
                <a:srgbClr val="C00000"/>
              </a:solidFill>
              <a:effectLst/>
              <a:latin typeface="Times New Roman" panose="02020603050405020304" pitchFamily="18" charset="0"/>
              <a:ea typeface="Arial" panose="020B06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3D2E35-68D2-FA64-B72F-6E71F4D8A2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02542" y="1302551"/>
            <a:ext cx="9451258" cy="4874412"/>
          </a:xfrm>
        </p:spPr>
        <p:txBody>
          <a:bodyPr>
            <a:noAutofit/>
          </a:bodyPr>
          <a:lstStyle/>
          <a:p>
            <a:pPr marL="0" marR="0" indent="0">
              <a:lnSpc>
                <a:spcPct val="150000"/>
              </a:lnSpc>
              <a:buNone/>
            </a:pPr>
            <a:r>
              <a:rPr lang="en-GB" sz="2000" b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Conclusions:</a:t>
            </a:r>
            <a:endParaRPr lang="en-US" sz="2000" dirty="0">
              <a:solidFill>
                <a:srgbClr val="C00000"/>
              </a:solidFill>
              <a:effectLst/>
              <a:latin typeface="Times New Roman" panose="02020603050405020304" pitchFamily="18" charset="0"/>
              <a:ea typeface="Arial" panose="020B0604020202020204" pitchFamily="34" charset="0"/>
              <a:cs typeface="Times New Roman" panose="02020603050405020304" pitchFamily="18" charset="0"/>
            </a:endParaRPr>
          </a:p>
          <a:p>
            <a:pPr marL="114300" marR="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GB" sz="2000" dirty="0"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This online bus ticket booking system will provide numerous advantages such as enhancing customer satisfaction, smooth operations and increased revenue. </a:t>
            </a:r>
          </a:p>
          <a:p>
            <a:pPr marL="114300" marR="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GB" sz="2000" dirty="0"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This is because it allows customers to book tickets, select seats, and make payments online, at the comfort of their homes or offices. </a:t>
            </a:r>
          </a:p>
          <a:p>
            <a:pPr marL="114300" marR="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GB" sz="2000" dirty="0"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The system will also reduce the dependency of customers going to physical booking counters in order to buy a ticket hence making the process more convenient and reliable. Additionally, viewing of seat availability and booking data enables better resource management by reducing operational errors like overbooking. </a:t>
            </a:r>
            <a:endParaRPr lang="en-US" sz="2000" dirty="0">
              <a:effectLst/>
              <a:latin typeface="Times New Roman" panose="02020603050405020304" pitchFamily="18" charset="0"/>
              <a:ea typeface="Arial" panose="020B0604020202020204" pitchFamily="34" charset="0"/>
              <a:cs typeface="Times New Roman" panose="02020603050405020304" pitchFamily="18" charset="0"/>
            </a:endParaRPr>
          </a:p>
          <a:p>
            <a:pPr marL="114300" marR="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GB" sz="2000" dirty="0"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Overall, the system meets modern customer expectations and will also strengthen the W Transport competitive position in the market.</a:t>
            </a:r>
            <a:endParaRPr lang="en-US" sz="2000" dirty="0">
              <a:effectLst/>
              <a:latin typeface="Times New Roman" panose="02020603050405020304" pitchFamily="18" charset="0"/>
              <a:ea typeface="Arial" panose="020B0604020202020204" pitchFamily="34" charset="0"/>
              <a:cs typeface="Times New Roman" panose="02020603050405020304" pitchFamily="18" charset="0"/>
            </a:endParaRPr>
          </a:p>
          <a:p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2D8F49-C2F0-C484-4147-6F68384C7A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5F22A-3AC6-4339-8492-9055B605575F}" type="datetime1">
              <a:rPr lang="en-US" smtClean="0"/>
              <a:t>11/23/2024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0083BC-2697-66BC-2FBE-8B205BF77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CUEA | Department of Computer &amp; Information Science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6317B1-739F-DDA6-C7F0-D2BA22F1D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1C4E3-6544-488F-8BBE-2E6A0588B5A3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35832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DC2CCF-4BB5-2224-75E3-932D4648F3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FF7EF7-1112-479D-F405-B1945F5C8D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2129" y="798973"/>
            <a:ext cx="6681020" cy="1118018"/>
          </a:xfrm>
        </p:spPr>
        <p:txBody>
          <a:bodyPr>
            <a:normAutofit/>
          </a:bodyPr>
          <a:lstStyle/>
          <a:p>
            <a:pPr marL="0" marR="0">
              <a:lnSpc>
                <a:spcPct val="150000"/>
              </a:lnSpc>
            </a:pPr>
            <a:r>
              <a:rPr lang="en-GB" sz="2600" b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Future Recommendations:</a:t>
            </a:r>
            <a:endParaRPr lang="en-US" sz="2600" dirty="0">
              <a:solidFill>
                <a:srgbClr val="C00000"/>
              </a:solidFill>
              <a:effectLst/>
              <a:latin typeface="Times New Roman" panose="02020603050405020304" pitchFamily="18" charset="0"/>
              <a:ea typeface="Arial" panose="020B06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08B7BE-4086-CDBA-EE36-9F89867122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16991"/>
            <a:ext cx="10515600" cy="4259972"/>
          </a:xfrm>
        </p:spPr>
        <p:txBody>
          <a:bodyPr>
            <a:normAutofit fontScale="92500" lnSpcReduction="10000"/>
          </a:bodyPr>
          <a:lstStyle/>
          <a:p>
            <a:pPr marL="0" marR="0">
              <a:lnSpc>
                <a:spcPct val="150000"/>
              </a:lnSpc>
            </a:pPr>
            <a:r>
              <a:rPr lang="en-GB" sz="2300" b="1" i="1" dirty="0"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Offer more Integrated Payment Options</a:t>
            </a:r>
            <a:r>
              <a:rPr lang="en-GB" sz="2300" dirty="0"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: such as credit cards, mobile wallets, and bank transfers, to cater to varied customer preferences.</a:t>
            </a:r>
            <a:endParaRPr lang="en-US" sz="2300" dirty="0">
              <a:effectLst/>
              <a:latin typeface="Times New Roman" panose="02020603050405020304" pitchFamily="18" charset="0"/>
              <a:ea typeface="Arial" panose="020B06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50000"/>
              </a:lnSpc>
            </a:pPr>
            <a:r>
              <a:rPr lang="en-GB" sz="2300" b="1" i="1" dirty="0"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Real-Time Notifications:</a:t>
            </a:r>
            <a:r>
              <a:rPr lang="en-GB" sz="2300" dirty="0"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 Implement notification systems that update customers on booking confirmations, trip reminders, and any changes or delays in schedules. </a:t>
            </a:r>
            <a:endParaRPr lang="en-US" sz="2300" dirty="0">
              <a:effectLst/>
              <a:latin typeface="Times New Roman" panose="02020603050405020304" pitchFamily="18" charset="0"/>
              <a:ea typeface="Arial" panose="020B06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50000"/>
              </a:lnSpc>
            </a:pPr>
            <a:r>
              <a:rPr lang="en-GB" sz="2300" b="1" i="1" dirty="0"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Offer Promotions</a:t>
            </a:r>
            <a:r>
              <a:rPr lang="en-GB" sz="2300" dirty="0"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: Offer promotional discounts on different seasons to encourage more bookings in the future.</a:t>
            </a:r>
            <a:endParaRPr lang="en-US" sz="2300" dirty="0">
              <a:effectLst/>
              <a:latin typeface="Times New Roman" panose="02020603050405020304" pitchFamily="18" charset="0"/>
              <a:ea typeface="Arial" panose="020B06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50000"/>
              </a:lnSpc>
            </a:pPr>
            <a:r>
              <a:rPr lang="en-GB" sz="2300" b="1" i="1" dirty="0"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Incorporate Data Analytics:</a:t>
            </a:r>
            <a:r>
              <a:rPr lang="en-GB" sz="2300" dirty="0"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 This will enable admins to track and understand the booking trends, popular routes.</a:t>
            </a:r>
            <a:endParaRPr lang="en-US" sz="2300" dirty="0">
              <a:effectLst/>
              <a:latin typeface="Times New Roman" panose="02020603050405020304" pitchFamily="18" charset="0"/>
              <a:ea typeface="Arial" panose="020B0604020202020204" pitchFamily="34" charset="0"/>
              <a:cs typeface="Times New Roman" panose="02020603050405020304" pitchFamily="18" charset="0"/>
            </a:endParaRPr>
          </a:p>
          <a:p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4332F5-2824-61BE-AE2A-288D7D5594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5F22A-3AC6-4339-8492-9055B605575F}" type="datetime1">
              <a:rPr lang="en-US" smtClean="0"/>
              <a:t>11/23/2024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D77697-D309-FFA9-971D-BFFC272B16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51579" y="329307"/>
            <a:ext cx="5938836" cy="1263519"/>
          </a:xfrm>
        </p:spPr>
        <p:txBody>
          <a:bodyPr/>
          <a:lstStyle/>
          <a:p>
            <a:r>
              <a:rPr lang="en-US"/>
              <a:t>CUEA | Department of Computer &amp; Information Science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2DA317-38DF-5B36-FD2E-9AD879DA3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1C4E3-6544-488F-8BBE-2E6A0588B5A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294165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871</TotalTime>
  <Words>544</Words>
  <Application>Microsoft Office PowerPoint</Application>
  <PresentationFormat>Widescreen</PresentationFormat>
  <Paragraphs>73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Gill Sans MT</vt:lpstr>
      <vt:lpstr>Times New Roman</vt:lpstr>
      <vt:lpstr>Wingdings</vt:lpstr>
      <vt:lpstr>Gallery</vt:lpstr>
      <vt:lpstr>  PROJECT title: ONLINE BUS TICKET BOOKING SYSTEM </vt:lpstr>
      <vt:lpstr>introduction</vt:lpstr>
      <vt:lpstr>OBJECTIVES:</vt:lpstr>
      <vt:lpstr>Tables </vt:lpstr>
      <vt:lpstr> (i) ER- DIAGRAMS</vt:lpstr>
      <vt:lpstr>(iii) SQL SCHEMA</vt:lpstr>
      <vt:lpstr>Advanced queries</vt:lpstr>
      <vt:lpstr>Advanced queries</vt:lpstr>
      <vt:lpstr>TESTING AND VALIDATION:</vt:lpstr>
      <vt:lpstr>CONCLUSIONS AND RECOMMENDATIONS:</vt:lpstr>
      <vt:lpstr>Future Recommendations: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MY RESEARCH PROJECT TITLE</dc:title>
  <dc:creator>ADMIN</dc:creator>
  <cp:lastModifiedBy>lucky</cp:lastModifiedBy>
  <cp:revision>19</cp:revision>
  <dcterms:created xsi:type="dcterms:W3CDTF">2023-10-15T14:50:21Z</dcterms:created>
  <dcterms:modified xsi:type="dcterms:W3CDTF">2024-11-23T04:04:17Z</dcterms:modified>
</cp:coreProperties>
</file>